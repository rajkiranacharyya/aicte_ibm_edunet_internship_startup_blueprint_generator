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hOfe5CHce5Sr5jDFZ8CqqstYCC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03C57C-9915-4B56-9561-BCDBE7EEB208}">
  <a:tblStyle styleId="{4103C57C-9915-4B56-9561-BCDBE7EEB20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8" Type="http://customschemas.google.com/relationships/presentationmetadata" Target="meta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4e7914063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g3f4e7914063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4fa821565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3f4fa821565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4fa821565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3f4fa821565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4fa821565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f4fa821565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4fa821565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f4fa821565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github.com/RajKiranAcharyya/AICTE_IBM_EDUNET_INTERNSHIP_Startup_Blueprint_Generator" TargetMode="External"/><Relationship Id="rId4" Type="http://schemas.openxmlformats.org/officeDocument/2006/relationships/hyperlink" Target="https://startupplan-generator-edunet-foundation.onrender.com/" TargetMode="External"/><Relationship Id="rId5" Type="http://schemas.openxmlformats.org/officeDocument/2006/relationships/hyperlink" Target="https://docs.google.com/videos/d/1r0zR4eqxMDFpNzph_9MeQwZTrGSSQXVg3asL4nH2F_A/play"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401132" y="2600315"/>
          <a:ext cx="3000000" cy="3000000"/>
        </p:xfrm>
        <a:graphic>
          <a:graphicData uri="http://schemas.openxmlformats.org/drawingml/2006/table">
            <a:tbl>
              <a:tblPr>
                <a:noFill/>
                <a:tableStyleId>{4103C57C-9915-4B56-9561-BCDBE7EEB208}</a:tableStyleId>
              </a:tblPr>
              <a:tblGrid>
                <a:gridCol w="2647925"/>
                <a:gridCol w="2731100"/>
                <a:gridCol w="3887800"/>
                <a:gridCol w="2133275"/>
              </a:tblGrid>
              <a:tr h="156657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921750">
                <a:tc>
                  <a:txBody>
                    <a:bodyPr/>
                    <a:lstStyle/>
                    <a:p>
                      <a:pPr indent="0" lvl="0" marL="0" marR="0" rtl="0" algn="l">
                        <a:lnSpc>
                          <a:spcPct val="100000"/>
                        </a:lnSpc>
                        <a:spcBef>
                          <a:spcPts val="0"/>
                        </a:spcBef>
                        <a:spcAft>
                          <a:spcPts val="0"/>
                        </a:spcAft>
                        <a:buClr>
                          <a:srgbClr val="000000"/>
                        </a:buClr>
                        <a:buSzPts val="1400"/>
                        <a:buFont typeface="Arial"/>
                        <a:buNone/>
                      </a:pPr>
                      <a:r>
                        <a:rPr lang="en-US" sz="2000"/>
                        <a:t>Raj Kiran Acharyya</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2000">
                          <a:solidFill>
                            <a:srgbClr val="1F1F1F"/>
                          </a:solidFill>
                          <a:highlight>
                            <a:srgbClr val="E9EEF6"/>
                          </a:highlight>
                          <a:latin typeface="Roboto"/>
                          <a:ea typeface="Roboto"/>
                          <a:cs typeface="Roboto"/>
                          <a:sym typeface="Roboto"/>
                        </a:rPr>
                        <a:t>rajkiranacharyya@gmail.com</a:t>
                      </a:r>
                      <a:r>
                        <a:rPr lang="en-US" sz="1100">
                          <a:solidFill>
                            <a:schemeClr val="dk1"/>
                          </a:solidFill>
                        </a:rPr>
                        <a:t> </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2000"/>
                        <a:t>9474643821</a:t>
                      </a:r>
                      <a:endParaRPr sz="20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2"/>
          <p:cNvSpPr txBox="1"/>
          <p:nvPr/>
        </p:nvSpPr>
        <p:spPr>
          <a:xfrm>
            <a:off x="1206164" y="1460724"/>
            <a:ext cx="1028025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Domain of  Project – </a:t>
            </a:r>
            <a:r>
              <a:rPr b="1" lang="en-US" sz="2400">
                <a:highlight>
                  <a:srgbClr val="FFFF00"/>
                </a:highlight>
              </a:rPr>
              <a:t>Agentic AI(</a:t>
            </a:r>
            <a:r>
              <a:rPr b="1" lang="en-US" sz="2400">
                <a:highlight>
                  <a:srgbClr val="FFFF00"/>
                </a:highlight>
              </a:rPr>
              <a:t>Business Strategy And Planning)</a:t>
            </a:r>
            <a:endParaRPr b="1" i="0" sz="2400" u="none" cap="none" strike="noStrike">
              <a:solidFill>
                <a:srgbClr val="000000"/>
              </a:solidFill>
              <a:highlight>
                <a:srgbClr val="FFFF00"/>
              </a:highlight>
              <a:latin typeface="Arial"/>
              <a:ea typeface="Arial"/>
              <a:cs typeface="Arial"/>
              <a:sym typeface="Arial"/>
            </a:endParaRPr>
          </a:p>
        </p:txBody>
      </p:sp>
      <p:sp>
        <p:nvSpPr>
          <p:cNvPr id="88" name="Google Shape;88;p2"/>
          <p:cNvSpPr txBox="1"/>
          <p:nvPr/>
        </p:nvSpPr>
        <p:spPr>
          <a:xfrm>
            <a:off x="1206162" y="551965"/>
            <a:ext cx="958117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Project Tile – </a:t>
            </a:r>
            <a:r>
              <a:rPr b="1" lang="en-US" sz="2400">
                <a:highlight>
                  <a:srgbClr val="FFFF00"/>
                </a:highlight>
              </a:rPr>
              <a:t>Startup Blueprint Generator Agent</a:t>
            </a:r>
            <a:endParaRPr b="1" i="0" sz="2400" u="none" cap="none" strike="noStrike">
              <a:solidFill>
                <a:srgbClr val="000000"/>
              </a:solidFill>
              <a:highlight>
                <a:srgbClr val="FFFF00"/>
              </a:highlight>
              <a:latin typeface="Arial"/>
              <a:ea typeface="Arial"/>
              <a:cs typeface="Arial"/>
              <a:sym typeface="Arial"/>
            </a:endParaRPr>
          </a:p>
        </p:txBody>
      </p:sp>
      <p:pic>
        <p:nvPicPr>
          <p:cNvPr id="89" name="Google Shape;89;p2"/>
          <p:cNvPicPr preferRelativeResize="0"/>
          <p:nvPr/>
        </p:nvPicPr>
        <p:blipFill rotWithShape="1">
          <a:blip r:embed="rId3">
            <a:alphaModFix/>
          </a:blip>
          <a:srcRect b="-40944" l="0" r="-36761" t="0"/>
          <a:stretch/>
        </p:blipFill>
        <p:spPr>
          <a:xfrm>
            <a:off x="3582971" y="4343100"/>
            <a:ext cx="2365875" cy="21878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4"/>
          <p:cNvSpPr txBox="1"/>
          <p:nvPr/>
        </p:nvSpPr>
        <p:spPr>
          <a:xfrm>
            <a:off x="172525" y="700950"/>
            <a:ext cx="11927100" cy="6095400"/>
          </a:xfrm>
          <a:prstGeom prst="rect">
            <a:avLst/>
          </a:prstGeom>
          <a:noFill/>
          <a:ln>
            <a:noFill/>
          </a:ln>
        </p:spPr>
        <p:txBody>
          <a:bodyPr anchorCtr="0" anchor="t" bIns="45700" lIns="91425" spcFirstLastPara="1" rIns="91425" wrap="square" tIns="45700">
            <a:spAutoFit/>
          </a:bodyPr>
          <a:lstStyle/>
          <a:p>
            <a:pPr indent="0" lvl="0" marL="0" rtl="0" algn="l">
              <a:spcBef>
                <a:spcPts val="1200"/>
              </a:spcBef>
              <a:spcAft>
                <a:spcPts val="0"/>
              </a:spcAft>
              <a:buNone/>
            </a:pPr>
            <a:r>
              <a:rPr b="1" lang="en-US" sz="2200" u="sng"/>
              <a:t>Problem Statement</a:t>
            </a:r>
            <a:endParaRPr b="1" sz="2200" u="sng"/>
          </a:p>
          <a:p>
            <a:pPr indent="-228600" lvl="0" marL="228600" rtl="0" algn="l">
              <a:spcBef>
                <a:spcPts val="1200"/>
              </a:spcBef>
              <a:spcAft>
                <a:spcPts val="0"/>
              </a:spcAft>
              <a:buNone/>
            </a:pPr>
            <a:r>
              <a:rPr lang="en-US" sz="1600"/>
              <a:t>    </a:t>
            </a:r>
            <a:r>
              <a:rPr lang="en-US" sz="1800"/>
              <a:t>Entrepreneurs often struggle with the ambiguity of early-stage planning. The Startup Blueprint Generator Agent</a:t>
            </a:r>
            <a:r>
              <a:rPr lang="en-US" sz="1800"/>
              <a:t> </a:t>
            </a:r>
            <a:r>
              <a:rPr lang="en-US" sz="1800"/>
              <a:t>addresses this by utilizing RAG (Retrieval-Augmented Generation) to convert raw concepts into precise, actionable business roadmaps. By synthesizing market research, competitor data, regulatory landscapes, and funding avenues, the agent provides comprehensive guidance—ranging from Business Model Canvases and financial forecasting to go-to-market strategies—significantly accelerating the startup launch lifecycle.</a:t>
            </a:r>
            <a:endParaRPr sz="1800"/>
          </a:p>
          <a:p>
            <a:pPr indent="0" lvl="0" marL="0" rtl="0" algn="l">
              <a:spcBef>
                <a:spcPts val="1200"/>
              </a:spcBef>
              <a:spcAft>
                <a:spcPts val="0"/>
              </a:spcAft>
              <a:buNone/>
            </a:pPr>
            <a:r>
              <a:rPr b="1" lang="en-US" sz="2200" u="sng"/>
              <a:t>Project Objectives</a:t>
            </a:r>
            <a:endParaRPr b="1" sz="2200" u="sng"/>
          </a:p>
          <a:p>
            <a:pPr indent="-228600" lvl="0" marL="457200" rtl="0" algn="l">
              <a:spcBef>
                <a:spcPts val="1200"/>
              </a:spcBef>
              <a:spcAft>
                <a:spcPts val="0"/>
              </a:spcAft>
              <a:buNone/>
            </a:pPr>
            <a:r>
              <a:rPr lang="en-US" sz="1800"/>
              <a:t>The goal is to engineer an AI-driven agent capable of producing data-backed, strategic business frameworks. Core functionalities include:</a:t>
            </a:r>
            <a:endParaRPr sz="1800"/>
          </a:p>
          <a:p>
            <a:pPr indent="-342900" lvl="0" marL="457200" rtl="0" algn="l">
              <a:spcBef>
                <a:spcPts val="1200"/>
              </a:spcBef>
              <a:spcAft>
                <a:spcPts val="0"/>
              </a:spcAft>
              <a:buSzPts val="1800"/>
              <a:buChar char="●"/>
            </a:pPr>
            <a:r>
              <a:rPr b="1" lang="en-US" sz="1800"/>
              <a:t>Holistic Business Architecture:</a:t>
            </a:r>
            <a:r>
              <a:rPr lang="en-US" sz="1800"/>
              <a:t> Automated generation of detailed 19-section business plans, featuring executive summaries and SWOT analysis.</a:t>
            </a:r>
            <a:endParaRPr sz="1800"/>
          </a:p>
          <a:p>
            <a:pPr indent="-342900" lvl="0" marL="457200" rtl="0" algn="l">
              <a:spcBef>
                <a:spcPts val="0"/>
              </a:spcBef>
              <a:spcAft>
                <a:spcPts val="0"/>
              </a:spcAft>
              <a:buSzPts val="1800"/>
              <a:buChar char="●"/>
            </a:pPr>
            <a:r>
              <a:rPr b="1" lang="en-US" sz="1800"/>
              <a:t>Contextual Market Intelligence:</a:t>
            </a:r>
            <a:r>
              <a:rPr lang="en-US" sz="1800"/>
              <a:t> Intelligent summarization of industry-specific compliance requirements, government schemes, and localized funding opportunities.</a:t>
            </a:r>
            <a:endParaRPr sz="1800"/>
          </a:p>
          <a:p>
            <a:pPr indent="-342900" lvl="0" marL="457200" rtl="0" algn="l">
              <a:spcBef>
                <a:spcPts val="0"/>
              </a:spcBef>
              <a:spcAft>
                <a:spcPts val="0"/>
              </a:spcAft>
              <a:buSzPts val="1800"/>
              <a:buChar char="●"/>
            </a:pPr>
            <a:r>
              <a:rPr b="1" lang="en-US" sz="1800"/>
              <a:t>Dynamic Financial Modeling:</a:t>
            </a:r>
            <a:r>
              <a:rPr lang="en-US" sz="1800"/>
              <a:t> Tailored budget projections and unit economics adjusted to the specific scale of the venture.</a:t>
            </a:r>
            <a:endParaRPr sz="1800"/>
          </a:p>
          <a:p>
            <a:pPr indent="-342900" lvl="0" marL="457200" rtl="0" algn="l">
              <a:spcBef>
                <a:spcPts val="0"/>
              </a:spcBef>
              <a:spcAft>
                <a:spcPts val="0"/>
              </a:spcAft>
              <a:buSzPts val="1800"/>
              <a:buChar char="●"/>
            </a:pPr>
            <a:r>
              <a:rPr b="1" lang="en-US" sz="1800"/>
              <a:t>Investor-Ready Tooling:</a:t>
            </a:r>
            <a:r>
              <a:rPr lang="en-US" sz="1800"/>
              <a:t> Automated drafting of professional pitch decks and Business Model Canvases (BMC).</a:t>
            </a:r>
            <a:endParaRPr sz="1800"/>
          </a:p>
          <a:p>
            <a:pPr indent="-342900" lvl="0" marL="457200" rtl="0" algn="l">
              <a:spcBef>
                <a:spcPts val="0"/>
              </a:spcBef>
              <a:spcAft>
                <a:spcPts val="0"/>
              </a:spcAft>
              <a:buSzPts val="1800"/>
              <a:buChar char="●"/>
            </a:pPr>
            <a:r>
              <a:rPr b="1" lang="en-US" sz="1800"/>
              <a:t>Documentation &amp; Visualization:</a:t>
            </a:r>
            <a:r>
              <a:rPr lang="en-US" sz="1800"/>
              <a:t> A responsive dashboard for real-time progress tracking and data visualization, alongside one-click professional PDF report generation.</a:t>
            </a:r>
            <a:endParaRPr sz="1800"/>
          </a:p>
        </p:txBody>
      </p:sp>
      <p:sp>
        <p:nvSpPr>
          <p:cNvPr id="95" name="Google Shape;95;p34"/>
          <p:cNvSpPr txBox="1"/>
          <p:nvPr/>
        </p:nvSpPr>
        <p:spPr>
          <a:xfrm>
            <a:off x="576075" y="161728"/>
            <a:ext cx="10607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Problem Statement </a:t>
            </a:r>
            <a:r>
              <a:rPr b="1" lang="en-US" sz="2400"/>
              <a:t>No.20 – Startup Blueprint Generator Agent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5"/>
          <p:cNvSpPr txBox="1"/>
          <p:nvPr/>
        </p:nvSpPr>
        <p:spPr>
          <a:xfrm>
            <a:off x="455475" y="799275"/>
            <a:ext cx="11331600" cy="6218400"/>
          </a:xfrm>
          <a:prstGeom prst="rect">
            <a:avLst/>
          </a:prstGeom>
          <a:noFill/>
          <a:ln>
            <a:noFill/>
          </a:ln>
        </p:spPr>
        <p:txBody>
          <a:bodyPr anchorCtr="0" anchor="t" bIns="45700" lIns="91425" spcFirstLastPara="1" rIns="91425" wrap="square" tIns="45700">
            <a:spAutoFit/>
          </a:bodyPr>
          <a:lstStyle/>
          <a:p>
            <a:pPr indent="-228600" lvl="0" marL="457200" rtl="0" algn="l">
              <a:spcBef>
                <a:spcPts val="1200"/>
              </a:spcBef>
              <a:spcAft>
                <a:spcPts val="0"/>
              </a:spcAft>
              <a:buNone/>
            </a:pPr>
            <a:r>
              <a:rPr lang="en-US" sz="1600">
                <a:highlight>
                  <a:schemeClr val="lt1"/>
                </a:highlight>
              </a:rPr>
              <a:t>  </a:t>
            </a:r>
            <a:r>
              <a:rPr lang="en-US" sz="1800">
                <a:highlight>
                  <a:schemeClr val="lt1"/>
                </a:highlight>
              </a:rPr>
              <a:t> The proposed solution is an autonomous, AI-driven Startup Blueprint Generator designed to dismantle the significant knowledge and financial barriers hindering entrepreneurship. By leveraging IBM watsonx.ai and IBM Granite models, the platform provides comprehensive, real-time strategic guidance for new ventures.</a:t>
            </a:r>
            <a:endParaRPr sz="1800">
              <a:highlight>
                <a:schemeClr val="lt1"/>
              </a:highlight>
            </a:endParaRPr>
          </a:p>
          <a:p>
            <a:pPr indent="-228600" lvl="0" marL="457200" rtl="0" algn="l">
              <a:spcBef>
                <a:spcPts val="1200"/>
              </a:spcBef>
              <a:spcAft>
                <a:spcPts val="0"/>
              </a:spcAft>
              <a:buNone/>
            </a:pPr>
            <a:r>
              <a:t/>
            </a:r>
            <a:endParaRPr sz="1600">
              <a:highlight>
                <a:schemeClr val="lt1"/>
              </a:highlight>
            </a:endParaRPr>
          </a:p>
          <a:p>
            <a:pPr indent="-228600" lvl="0" marL="457200" rtl="0" algn="l">
              <a:spcBef>
                <a:spcPts val="1200"/>
              </a:spcBef>
              <a:spcAft>
                <a:spcPts val="0"/>
              </a:spcAft>
              <a:buNone/>
            </a:pPr>
            <a:r>
              <a:rPr b="1" lang="en-US" sz="2000" u="sng">
                <a:highlight>
                  <a:schemeClr val="lt1"/>
                </a:highlight>
              </a:rPr>
              <a:t>Core Methodology</a:t>
            </a:r>
            <a:endParaRPr b="1" sz="2000" u="sng">
              <a:highlight>
                <a:schemeClr val="lt1"/>
              </a:highlight>
            </a:endParaRPr>
          </a:p>
          <a:p>
            <a:pPr indent="-228600" lvl="0" marL="457200" rtl="0" algn="l">
              <a:spcBef>
                <a:spcPts val="1200"/>
              </a:spcBef>
              <a:spcAft>
                <a:spcPts val="0"/>
              </a:spcAft>
              <a:buNone/>
            </a:pPr>
            <a:r>
              <a:rPr lang="en-US" sz="1800">
                <a:highlight>
                  <a:schemeClr val="lt1"/>
                </a:highlight>
              </a:rPr>
              <a:t>   The system architecture utilizes a Retrieval-Augmented Generation (RAG) framework to ensure strategic outputs are grounded in verified, real-world data. By pulling accurate insights from authoritative economic and institutional sources—including current market trends, government schemes, and legal regulations—the Granite foundation models deliver contextually precise and reliable business strategies.</a:t>
            </a:r>
            <a:endParaRPr sz="1800">
              <a:highlight>
                <a:schemeClr val="lt1"/>
              </a:highlight>
            </a:endParaRPr>
          </a:p>
          <a:p>
            <a:pPr indent="-228600" lvl="0" marL="457200" rtl="0" algn="l">
              <a:spcBef>
                <a:spcPts val="1200"/>
              </a:spcBef>
              <a:spcAft>
                <a:spcPts val="0"/>
              </a:spcAft>
              <a:buNone/>
            </a:pPr>
            <a:r>
              <a:t/>
            </a:r>
            <a:endParaRPr sz="1600">
              <a:highlight>
                <a:schemeClr val="lt1"/>
              </a:highlight>
            </a:endParaRPr>
          </a:p>
          <a:p>
            <a:pPr indent="-228600" lvl="0" marL="457200" rtl="0" algn="l">
              <a:spcBef>
                <a:spcPts val="1200"/>
              </a:spcBef>
              <a:spcAft>
                <a:spcPts val="0"/>
              </a:spcAft>
              <a:buNone/>
            </a:pPr>
            <a:r>
              <a:rPr b="1" lang="en-US" sz="2000" u="sng">
                <a:highlight>
                  <a:schemeClr val="lt1"/>
                </a:highlight>
              </a:rPr>
              <a:t>Operational Logic: The Four Virtual Agents</a:t>
            </a:r>
            <a:endParaRPr b="1" sz="2000" u="sng">
              <a:highlight>
                <a:schemeClr val="lt1"/>
              </a:highlight>
            </a:endParaRPr>
          </a:p>
          <a:p>
            <a:pPr indent="-228600" lvl="0" marL="457200" rtl="0" algn="l">
              <a:spcBef>
                <a:spcPts val="1200"/>
              </a:spcBef>
              <a:spcAft>
                <a:spcPts val="0"/>
              </a:spcAft>
              <a:buNone/>
            </a:pPr>
            <a:r>
              <a:rPr lang="en-US" sz="1800">
                <a:highlight>
                  <a:schemeClr val="lt1"/>
                </a:highlight>
              </a:rPr>
              <a:t>The system logic is divided into four specialized agents:</a:t>
            </a:r>
            <a:endParaRPr sz="1800">
              <a:highlight>
                <a:schemeClr val="lt1"/>
              </a:highlight>
            </a:endParaRPr>
          </a:p>
          <a:p>
            <a:pPr indent="-342900" lvl="0" marL="457200" rtl="0" algn="l">
              <a:spcBef>
                <a:spcPts val="1200"/>
              </a:spcBef>
              <a:spcAft>
                <a:spcPts val="0"/>
              </a:spcAft>
              <a:buSzPts val="1800"/>
              <a:buChar char="●"/>
            </a:pPr>
            <a:r>
              <a:rPr b="1" lang="en-US" sz="1800">
                <a:highlight>
                  <a:schemeClr val="lt1"/>
                </a:highlight>
              </a:rPr>
              <a:t>Market Research Agent:</a:t>
            </a:r>
            <a:r>
              <a:rPr lang="en-US" sz="1800">
                <a:highlight>
                  <a:schemeClr val="lt1"/>
                </a:highlight>
              </a:rPr>
              <a:t> Identifies target audience demographics, performs deep competitor analysis, and tracks industry-specific market trends.</a:t>
            </a:r>
            <a:endParaRPr sz="1800">
              <a:highlight>
                <a:schemeClr val="lt1"/>
              </a:highlight>
            </a:endParaRPr>
          </a:p>
          <a:p>
            <a:pPr indent="-342900" lvl="0" marL="457200" rtl="0" algn="l">
              <a:spcBef>
                <a:spcPts val="0"/>
              </a:spcBef>
              <a:spcAft>
                <a:spcPts val="0"/>
              </a:spcAft>
              <a:buSzPts val="1800"/>
              <a:buChar char="●"/>
            </a:pPr>
            <a:r>
              <a:rPr b="1" lang="en-US" sz="1800">
                <a:highlight>
                  <a:schemeClr val="lt1"/>
                </a:highlight>
              </a:rPr>
              <a:t>Financial Planning Agent:</a:t>
            </a:r>
            <a:r>
              <a:rPr lang="en-US" sz="1800">
                <a:highlight>
                  <a:schemeClr val="lt1"/>
                </a:highlight>
              </a:rPr>
              <a:t> Develops estimated budget breakdowns, pricing strategies, unit economics, and scalable revenue models customized to the startup’s scale.</a:t>
            </a:r>
            <a:endParaRPr sz="1800">
              <a:highlight>
                <a:schemeClr val="lt1"/>
              </a:highlight>
            </a:endParaRPr>
          </a:p>
          <a:p>
            <a:pPr indent="0" lvl="0" marL="0" rtl="0" algn="l">
              <a:spcBef>
                <a:spcPts val="1200"/>
              </a:spcBef>
              <a:spcAft>
                <a:spcPts val="0"/>
              </a:spcAft>
              <a:buNone/>
            </a:pPr>
            <a:r>
              <a:t/>
            </a:r>
            <a:endParaRPr sz="1200">
              <a:highlight>
                <a:schemeClr val="lt1"/>
              </a:highlight>
            </a:endParaRPr>
          </a:p>
        </p:txBody>
      </p:sp>
      <p:sp>
        <p:nvSpPr>
          <p:cNvPr id="101" name="Google Shape;101;p35"/>
          <p:cNvSpPr txBox="1"/>
          <p:nvPr/>
        </p:nvSpPr>
        <p:spPr>
          <a:xfrm>
            <a:off x="576076" y="210867"/>
            <a:ext cx="10711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Proposed Solution - </a:t>
            </a:r>
            <a:r>
              <a:rPr b="1" lang="en-US" sz="2400">
                <a:solidFill>
                  <a:srgbClr val="616161"/>
                </a:solidFill>
                <a:highlight>
                  <a:schemeClr val="lt1"/>
                </a:highlight>
              </a:rPr>
              <a:t>AI-Powered Startup Blueprint Generator Agent</a:t>
            </a:r>
            <a:r>
              <a:rPr lang="en-US" sz="2400">
                <a:solidFill>
                  <a:schemeClr val="dk1"/>
                </a:solidFill>
                <a:highlight>
                  <a:schemeClr val="lt1"/>
                </a:highlight>
              </a:rPr>
              <a:t> </a:t>
            </a:r>
            <a:endParaRPr b="1" i="0" sz="2400" u="none" cap="none" strike="noStrike">
              <a:solidFill>
                <a:srgbClr val="000000"/>
              </a:solidFill>
              <a:highlight>
                <a:schemeClr val="lt1"/>
              </a:highlight>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f4e7914063_0_42"/>
          <p:cNvSpPr txBox="1"/>
          <p:nvPr/>
        </p:nvSpPr>
        <p:spPr>
          <a:xfrm>
            <a:off x="433175" y="545175"/>
            <a:ext cx="11274900" cy="5756700"/>
          </a:xfrm>
          <a:prstGeom prst="rect">
            <a:avLst/>
          </a:prstGeom>
          <a:noFill/>
          <a:ln>
            <a:noFill/>
          </a:ln>
        </p:spPr>
        <p:txBody>
          <a:bodyPr anchorCtr="0" anchor="t" bIns="45700" lIns="91425" spcFirstLastPara="1" rIns="91425" wrap="square" tIns="45700">
            <a:spAutoFit/>
          </a:bodyPr>
          <a:lstStyle/>
          <a:p>
            <a:pPr indent="-355600" lvl="0" marL="457200" rtl="0" algn="l">
              <a:spcBef>
                <a:spcPts val="1200"/>
              </a:spcBef>
              <a:spcAft>
                <a:spcPts val="0"/>
              </a:spcAft>
              <a:buClr>
                <a:schemeClr val="dk1"/>
              </a:buClr>
              <a:buSzPts val="2000"/>
              <a:buChar char="●"/>
            </a:pPr>
            <a:r>
              <a:rPr b="1" lang="en-US" sz="2000">
                <a:solidFill>
                  <a:schemeClr val="dk1"/>
                </a:solidFill>
                <a:highlight>
                  <a:schemeClr val="lt1"/>
                </a:highlight>
              </a:rPr>
              <a:t>Compliance &amp; Legal Agent:</a:t>
            </a:r>
            <a:r>
              <a:rPr lang="en-US" sz="2000">
                <a:solidFill>
                  <a:schemeClr val="dk1"/>
                </a:solidFill>
                <a:highlight>
                  <a:schemeClr val="lt1"/>
                </a:highlight>
              </a:rPr>
              <a:t> Maps out critical legal frameworks, mandatory business registrations, and region-specific government incentive programs (e.g., Startup India or SBA).</a:t>
            </a:r>
            <a:endParaRPr sz="2000">
              <a:solidFill>
                <a:schemeClr val="dk1"/>
              </a:solidFill>
              <a:highlight>
                <a:schemeClr val="lt1"/>
              </a:highlight>
            </a:endParaRPr>
          </a:p>
          <a:p>
            <a:pPr indent="-355600" lvl="0" marL="457200" rtl="0" algn="l">
              <a:spcBef>
                <a:spcPts val="0"/>
              </a:spcBef>
              <a:spcAft>
                <a:spcPts val="0"/>
              </a:spcAft>
              <a:buClr>
                <a:schemeClr val="dk1"/>
              </a:buClr>
              <a:buSzPts val="2000"/>
              <a:buChar char="●"/>
            </a:pPr>
            <a:r>
              <a:rPr b="1" lang="en-US" sz="2000">
                <a:solidFill>
                  <a:schemeClr val="dk1"/>
                </a:solidFill>
                <a:highlight>
                  <a:schemeClr val="lt1"/>
                </a:highlight>
              </a:rPr>
              <a:t>Go-To-Market &amp; Pitch Agent:</a:t>
            </a:r>
            <a:r>
              <a:rPr lang="en-US" sz="2000">
                <a:solidFill>
                  <a:schemeClr val="dk1"/>
                </a:solidFill>
                <a:highlight>
                  <a:schemeClr val="lt1"/>
                </a:highlight>
              </a:rPr>
              <a:t> Generates actionable 30-60-90 day execution roadmaps, Business Model Canvases (BMC), and professional investor pitch templates.</a:t>
            </a:r>
            <a:endParaRPr sz="2000">
              <a:solidFill>
                <a:schemeClr val="dk1"/>
              </a:solidFill>
              <a:highlight>
                <a:schemeClr val="lt1"/>
              </a:highlight>
            </a:endParaRPr>
          </a:p>
          <a:p>
            <a:pPr indent="0" lvl="0" marL="0" rtl="0" algn="l">
              <a:spcBef>
                <a:spcPts val="1200"/>
              </a:spcBef>
              <a:spcAft>
                <a:spcPts val="0"/>
              </a:spcAft>
              <a:buNone/>
            </a:pPr>
            <a:r>
              <a:t/>
            </a:r>
            <a:endParaRPr sz="1600">
              <a:solidFill>
                <a:schemeClr val="dk1"/>
              </a:solidFill>
              <a:highlight>
                <a:schemeClr val="lt1"/>
              </a:highlight>
            </a:endParaRPr>
          </a:p>
          <a:p>
            <a:pPr indent="0" lvl="0" marL="0" rtl="0" algn="l">
              <a:spcBef>
                <a:spcPts val="1200"/>
              </a:spcBef>
              <a:spcAft>
                <a:spcPts val="0"/>
              </a:spcAft>
              <a:buClr>
                <a:schemeClr val="dk1"/>
              </a:buClr>
              <a:buSzPts val="1100"/>
              <a:buFont typeface="Arial"/>
              <a:buNone/>
            </a:pPr>
            <a:r>
              <a:rPr b="1" lang="en-US" sz="2200" u="sng">
                <a:solidFill>
                  <a:schemeClr val="dk1"/>
                </a:solidFill>
                <a:highlight>
                  <a:schemeClr val="lt1"/>
                </a:highlight>
              </a:rPr>
              <a:t>Technical Architecture</a:t>
            </a:r>
            <a:endParaRPr b="1" sz="2200" u="sng">
              <a:solidFill>
                <a:schemeClr val="dk1"/>
              </a:solidFill>
              <a:highlight>
                <a:schemeClr val="lt1"/>
              </a:highlight>
            </a:endParaRPr>
          </a:p>
          <a:p>
            <a:pPr indent="0" lvl="0" marL="0" rtl="0" algn="l">
              <a:spcBef>
                <a:spcPts val="0"/>
              </a:spcBef>
              <a:spcAft>
                <a:spcPts val="0"/>
              </a:spcAft>
              <a:buNone/>
            </a:pPr>
            <a:r>
              <a:rPr lang="en-US" sz="2000">
                <a:solidFill>
                  <a:schemeClr val="dk1"/>
                </a:solidFill>
                <a:highlight>
                  <a:schemeClr val="lt1"/>
                </a:highlight>
              </a:rPr>
              <a:t>The platform features a modern, responsive web dashboard—built with Flask, Bootstrap, and JavaScript—which facilitates secure user input and displays the detailed 19-section blueprint. Backend workflows are managed through Flask and Gunicorn, while the watsonx.ai ecosystem ensures enterprise-grade deployment, scalability, and robust AI governance. A server-side PDF export engine allows for seamless, one-click document sharing.</a:t>
            </a:r>
            <a:endParaRPr sz="2000">
              <a:solidFill>
                <a:schemeClr val="dk1"/>
              </a:solidFill>
              <a:highlight>
                <a:schemeClr val="lt1"/>
              </a:highlight>
            </a:endParaRPr>
          </a:p>
          <a:p>
            <a:pPr indent="0" lvl="0" marL="0" rtl="0" algn="l">
              <a:spcBef>
                <a:spcPts val="0"/>
              </a:spcBef>
              <a:spcAft>
                <a:spcPts val="0"/>
              </a:spcAft>
              <a:buNone/>
            </a:pPr>
            <a:r>
              <a:t/>
            </a:r>
            <a:endParaRPr sz="16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sz="16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sz="16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US" sz="2200" u="sng">
                <a:solidFill>
                  <a:schemeClr val="dk1"/>
                </a:solidFill>
                <a:highlight>
                  <a:schemeClr val="lt1"/>
                </a:highlight>
              </a:rPr>
              <a:t>Conclusion</a:t>
            </a:r>
            <a:endParaRPr b="1" sz="2200" u="sng">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lang="en-US" sz="2000">
                <a:solidFill>
                  <a:schemeClr val="dk1"/>
                </a:solidFill>
                <a:highlight>
                  <a:schemeClr val="lt1"/>
                </a:highlight>
              </a:rPr>
              <a:t>Ultimately, this platform functions as an end-to-end intelligent incubation assistant, enabling aspiring founders to convert concepts into investor-ready, legally compliant, and financially robust business strategies.</a:t>
            </a:r>
            <a:endParaRPr sz="2000">
              <a:highlight>
                <a:schemeClr val="lt1"/>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12" name="Google Shape;112;p36"/>
          <p:cNvSpPr txBox="1"/>
          <p:nvPr/>
        </p:nvSpPr>
        <p:spPr>
          <a:xfrm>
            <a:off x="777240" y="1207008"/>
            <a:ext cx="10515600" cy="5184000"/>
          </a:xfrm>
          <a:prstGeom prst="rect">
            <a:avLst/>
          </a:prstGeom>
          <a:noFill/>
          <a:ln>
            <a:noFill/>
          </a:ln>
        </p:spPr>
        <p:txBody>
          <a:bodyPr anchorCtr="0" anchor="t" bIns="45700" lIns="91425" spcFirstLastPara="1" rIns="91425" wrap="square" tIns="45700">
            <a:spAutoFit/>
          </a:bodyPr>
          <a:lstStyle/>
          <a:p>
            <a:pPr indent="-342900" lvl="0" marL="457200" rtl="0" algn="l">
              <a:lnSpc>
                <a:spcPct val="115000"/>
              </a:lnSpc>
              <a:spcBef>
                <a:spcPts val="600"/>
              </a:spcBef>
              <a:spcAft>
                <a:spcPts val="0"/>
              </a:spcAft>
              <a:buClr>
                <a:schemeClr val="dk1"/>
              </a:buClr>
              <a:buSzPts val="1800"/>
              <a:buChar char="•"/>
            </a:pPr>
            <a:r>
              <a:rPr b="1" lang="en-US" sz="1800">
                <a:solidFill>
                  <a:schemeClr val="dk1"/>
                </a:solidFill>
                <a:highlight>
                  <a:schemeClr val="lt1"/>
                </a:highlight>
              </a:rPr>
              <a:t>Flask &amp; Gunicorn (Python)</a:t>
            </a:r>
            <a:r>
              <a:rPr lang="en-US" sz="1800">
                <a:solidFill>
                  <a:schemeClr val="dk1"/>
                </a:solidFill>
                <a:highlight>
                  <a:schemeClr val="lt1"/>
                </a:highlight>
              </a:rPr>
              <a:t> – For designing, routing, and orchestrating the complex generation       workflows and securely handling backend API requests.</a:t>
            </a:r>
            <a:endParaRPr sz="1800">
              <a:solidFill>
                <a:schemeClr val="dk1"/>
              </a:solidFill>
              <a:highlight>
                <a:schemeClr val="lt1"/>
              </a:highlight>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highlight>
                  <a:schemeClr val="lt1"/>
                </a:highlight>
              </a:rPr>
              <a:t>IBM Granite model (ibm/granite-3-8b-instruct)</a:t>
            </a:r>
            <a:r>
              <a:rPr lang="en-US" sz="1800">
                <a:solidFill>
                  <a:schemeClr val="dk1"/>
                </a:solidFill>
                <a:highlight>
                  <a:schemeClr val="lt1"/>
                </a:highlight>
              </a:rPr>
              <a:t> – For deep natural language understanding,        business logic reasoning, financial planning, and personalized text generation.</a:t>
            </a:r>
            <a:endParaRPr sz="1800">
              <a:solidFill>
                <a:schemeClr val="dk1"/>
              </a:solidFill>
              <a:highlight>
                <a:schemeClr val="lt1"/>
              </a:highlight>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highlight>
                  <a:schemeClr val="lt1"/>
                </a:highlight>
              </a:rPr>
              <a:t>IBM Cloud</a:t>
            </a:r>
            <a:r>
              <a:rPr lang="en-US" sz="1800">
                <a:solidFill>
                  <a:schemeClr val="dk1"/>
                </a:solidFill>
                <a:highlight>
                  <a:schemeClr val="lt1"/>
                </a:highlight>
              </a:rPr>
              <a:t> – Provides the underlying infrastructure to build, deploy, and scale the Startup Agent efficiently. IBM Cloud enables a reliable, secure, and scalable environment for enterprise deployment.</a:t>
            </a:r>
            <a:endParaRPr sz="1800">
              <a:solidFill>
                <a:schemeClr val="dk1"/>
              </a:solidFill>
              <a:highlight>
                <a:schemeClr val="lt1"/>
              </a:highlight>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highlight>
                  <a:schemeClr val="lt1"/>
                </a:highlight>
              </a:rPr>
              <a:t>RAG (Retrieval-Augmented Generation) Framework</a:t>
            </a:r>
            <a:r>
              <a:rPr lang="en-US" sz="1800">
                <a:solidFill>
                  <a:schemeClr val="dk1"/>
                </a:solidFill>
                <a:highlight>
                  <a:schemeClr val="lt1"/>
                </a:highlight>
              </a:rPr>
              <a:t> – To dynamically fetch required business structures, country-specific government schemes, and market definitions before generating intelligent answers, making the Startup Blueprint highly trustworthy and actionable.</a:t>
            </a:r>
            <a:endParaRPr sz="1800">
              <a:solidFill>
                <a:schemeClr val="dk1"/>
              </a:solidFill>
              <a:highlight>
                <a:schemeClr val="lt1"/>
              </a:highlight>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highlight>
                  <a:schemeClr val="lt1"/>
                </a:highlight>
              </a:rPr>
              <a:t>IBM Watsonx.ai</a:t>
            </a:r>
            <a:r>
              <a:rPr lang="en-US" sz="1800">
                <a:solidFill>
                  <a:schemeClr val="dk1"/>
                </a:solidFill>
                <a:highlight>
                  <a:schemeClr val="lt1"/>
                </a:highlight>
              </a:rPr>
              <a:t> – For enterprise-grade model access, API deployment, and robust AI governance.</a:t>
            </a:r>
            <a:endParaRPr sz="1800">
              <a:solidFill>
                <a:schemeClr val="dk1"/>
              </a:solidFill>
              <a:highlight>
                <a:schemeClr val="lt1"/>
              </a:highlight>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highlight>
                  <a:schemeClr val="lt1"/>
                </a:highlight>
              </a:rPr>
              <a:t>FPDF2 &amp; Bootstrap 5</a:t>
            </a:r>
            <a:r>
              <a:rPr lang="en-US" sz="1800">
                <a:solidFill>
                  <a:schemeClr val="dk1"/>
                </a:solidFill>
                <a:highlight>
                  <a:schemeClr val="lt1"/>
                </a:highlight>
              </a:rPr>
              <a:t> – For dynamic, server-side PDF document rendering and building a highly responsive, interactive frontend UI visualization.</a:t>
            </a:r>
            <a:endParaRPr b="0" i="0" sz="18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600"/>
              </a:spcBef>
              <a:spcAft>
                <a:spcPts val="0"/>
              </a:spcAft>
              <a:buClr>
                <a:srgbClr val="000000"/>
              </a:buClr>
              <a:buSzPts val="1400"/>
              <a:buFont typeface="Arial"/>
              <a:buNone/>
            </a:pPr>
            <a:r>
              <a:t/>
            </a:r>
            <a:endParaRPr b="0" i="0" sz="18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dk1"/>
              </a:solidFill>
              <a:highlight>
                <a:schemeClr val="lt1"/>
              </a:highlight>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lang="en-US" sz="2400" u="sng">
                <a:solidFill>
                  <a:srgbClr val="616161"/>
                </a:solidFill>
                <a:highlight>
                  <a:schemeClr val="lt1"/>
                </a:highlight>
              </a:rPr>
              <a:t>Architecture Components Used</a:t>
            </a:r>
            <a:r>
              <a:rPr lang="en-US" sz="2400">
                <a:solidFill>
                  <a:schemeClr val="dk1"/>
                </a:solidFill>
                <a:highlight>
                  <a:schemeClr val="lt1"/>
                </a:highlight>
              </a:rPr>
              <a:t> </a:t>
            </a:r>
            <a:r>
              <a:rPr b="1" i="0" lang="en-US" sz="2400" u="none" cap="none" strike="noStrike">
                <a:solidFill>
                  <a:srgbClr val="000000"/>
                </a:solidFill>
                <a:highlight>
                  <a:schemeClr val="lt1"/>
                </a:highlight>
                <a:latin typeface="Arial"/>
                <a:ea typeface="Arial"/>
                <a:cs typeface="Arial"/>
                <a:sym typeface="Arial"/>
              </a:rPr>
              <a:t> -</a:t>
            </a:r>
            <a:endParaRPr b="1" i="0" sz="2400" u="none" cap="none" strike="noStrike">
              <a:solidFill>
                <a:srgbClr val="000000"/>
              </a:solidFill>
              <a:highlight>
                <a:schemeClr val="lt1"/>
              </a:highlight>
              <a:latin typeface="Arial"/>
              <a:ea typeface="Arial"/>
              <a:cs typeface="Arial"/>
              <a:sym typeface="Arial"/>
            </a:endParaRPr>
          </a:p>
        </p:txBody>
      </p:sp>
      <p:sp>
        <p:nvSpPr>
          <p:cNvPr id="118" name="Google Shape;118;p3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9" name="Google Shape;119;p3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0" name="Google Shape;120;p3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1" name="Google Shape;121;p3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2" name="Google Shape;122;p3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3" name="Google Shape;123;p3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24" name="Google Shape;124;p37"/>
          <p:cNvSpPr txBox="1"/>
          <p:nvPr/>
        </p:nvSpPr>
        <p:spPr>
          <a:xfrm>
            <a:off x="474825" y="863175"/>
            <a:ext cx="11354700" cy="5744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chemeClr val="dk1"/>
              </a:solidFill>
              <a:highlight>
                <a:schemeClr val="lt1"/>
              </a:highlight>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1800">
                <a:solidFill>
                  <a:schemeClr val="dk1"/>
                </a:solidFill>
                <a:highlight>
                  <a:schemeClr val="lt1"/>
                </a:highlight>
              </a:rPr>
              <a:t>1) User Input Interface</a:t>
            </a:r>
            <a:r>
              <a:rPr lang="en-US" sz="1800">
                <a:solidFill>
                  <a:schemeClr val="dk1"/>
                </a:solidFill>
                <a:highlight>
                  <a:schemeClr val="lt1"/>
                </a:highlight>
              </a:rPr>
              <a:t> – A modern, responsive web form where users enter their raw startup idea, target industry, operating country, and initial budget.</a:t>
            </a:r>
            <a:endParaRPr sz="18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b="1" lang="en-US" sz="1800">
                <a:solidFill>
                  <a:schemeClr val="dk1"/>
                </a:solidFill>
                <a:highlight>
                  <a:schemeClr val="lt1"/>
                </a:highlight>
              </a:rPr>
              <a:t>2) IBM </a:t>
            </a:r>
            <a:r>
              <a:rPr b="1" lang="en-US" sz="1800">
                <a:solidFill>
                  <a:schemeClr val="dk1"/>
                </a:solidFill>
                <a:highlight>
                  <a:schemeClr val="lt1"/>
                </a:highlight>
              </a:rPr>
              <a:t>watsonx</a:t>
            </a:r>
            <a:r>
              <a:rPr b="1" lang="en-US" sz="1800">
                <a:solidFill>
                  <a:schemeClr val="dk1"/>
                </a:solidFill>
                <a:highlight>
                  <a:schemeClr val="lt1"/>
                </a:highlight>
              </a:rPr>
              <a:t> AI Agent</a:t>
            </a:r>
            <a:r>
              <a:rPr lang="en-US" sz="1800">
                <a:solidFill>
                  <a:schemeClr val="dk1"/>
                </a:solidFill>
                <a:highlight>
                  <a:schemeClr val="lt1"/>
                </a:highlight>
              </a:rPr>
              <a:t> – Processes the founder's input using IBM Granite models to autonomously research and generate a comprehensive 19-section strategic business plan.</a:t>
            </a:r>
            <a:endParaRPr sz="18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b="1" lang="en-US" sz="1800">
                <a:solidFill>
                  <a:schemeClr val="dk1"/>
                </a:solidFill>
                <a:highlight>
                  <a:schemeClr val="lt1"/>
                </a:highlight>
              </a:rPr>
              <a:t>3) Name of IBM Granite model</a:t>
            </a:r>
            <a:r>
              <a:rPr lang="en-US" sz="1800">
                <a:solidFill>
                  <a:schemeClr val="dk1"/>
                </a:solidFill>
                <a:highlight>
                  <a:schemeClr val="lt1"/>
                </a:highlight>
              </a:rPr>
              <a:t> – </a:t>
            </a:r>
            <a:r>
              <a:rPr lang="en-US" sz="1800">
                <a:solidFill>
                  <a:schemeClr val="dk1"/>
                </a:solidFill>
                <a:highlight>
                  <a:schemeClr val="lt1"/>
                </a:highlight>
                <a:latin typeface="Courier New"/>
                <a:ea typeface="Courier New"/>
                <a:cs typeface="Courier New"/>
                <a:sym typeface="Courier New"/>
              </a:rPr>
              <a:t>ibm/granite-3-8b-instruct</a:t>
            </a:r>
            <a:r>
              <a:rPr lang="en-US" sz="1800">
                <a:solidFill>
                  <a:schemeClr val="dk1"/>
                </a:solidFill>
                <a:highlight>
                  <a:schemeClr val="lt1"/>
                </a:highlight>
              </a:rPr>
              <a:t> → Highly efficient, enterprise-grade model optimized for complex business logic, financial reasoning, and strategic planning.</a:t>
            </a:r>
            <a:endParaRPr sz="18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b="1" lang="en-US" sz="1800">
                <a:solidFill>
                  <a:schemeClr val="dk1"/>
                </a:solidFill>
                <a:highlight>
                  <a:schemeClr val="lt1"/>
                </a:highlight>
              </a:rPr>
              <a:t>4) Interactive Output Dashboard</a:t>
            </a:r>
            <a:r>
              <a:rPr lang="en-US" sz="1800">
                <a:solidFill>
                  <a:schemeClr val="dk1"/>
                </a:solidFill>
                <a:highlight>
                  <a:schemeClr val="lt1"/>
                </a:highlight>
              </a:rPr>
              <a:t> – Elegantly displays the AI-generated responses (such as the Business Model Canvas, SWOT analysis, and Go-to-Market strategy) in a structured, tabbed web interface.</a:t>
            </a:r>
            <a:endParaRPr sz="18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b="1" lang="en-US" sz="1800">
                <a:solidFill>
                  <a:schemeClr val="dk1"/>
                </a:solidFill>
                <a:highlight>
                  <a:schemeClr val="lt1"/>
                </a:highlight>
              </a:rPr>
              <a:t>5) PDF Export Component (FPDF2)</a:t>
            </a:r>
            <a:r>
              <a:rPr lang="en-US" sz="1800">
                <a:solidFill>
                  <a:schemeClr val="dk1"/>
                </a:solidFill>
                <a:highlight>
                  <a:schemeClr val="lt1"/>
                </a:highlight>
              </a:rPr>
              <a:t> – Instantly compiles and formats the generated text into a downloadable, professional A4 PDF document ready for investor pitches.</a:t>
            </a:r>
            <a:endParaRPr sz="18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b="1" lang="en-US" sz="1800">
                <a:solidFill>
                  <a:schemeClr val="dk1"/>
                </a:solidFill>
                <a:highlight>
                  <a:schemeClr val="lt1"/>
                </a:highlight>
              </a:rPr>
              <a:t>6) Python Backend Router (Flask)</a:t>
            </a:r>
            <a:r>
              <a:rPr lang="en-US" sz="1800">
                <a:solidFill>
                  <a:schemeClr val="dk1"/>
                </a:solidFill>
                <a:highlight>
                  <a:schemeClr val="lt1"/>
                </a:highlight>
              </a:rPr>
              <a:t> – Manages user sessions and dynamically splits massive data requests to bypass AI token limits, ensuring seamless, high-speed document generation.</a:t>
            </a:r>
            <a:endParaRPr b="0" i="0" sz="1800" u="none" cap="none" strike="noStrike">
              <a:solidFill>
                <a:schemeClr val="dk1"/>
              </a:solidFill>
              <a:highlight>
                <a:schemeClr val="lt1"/>
              </a:highlight>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9"/>
          <p:cNvPicPr preferRelativeResize="0"/>
          <p:nvPr/>
        </p:nvPicPr>
        <p:blipFill rotWithShape="1">
          <a:blip r:embed="rId3">
            <a:alphaModFix/>
          </a:blip>
          <a:srcRect b="0" l="0" r="0" t="0"/>
          <a:stretch/>
        </p:blipFill>
        <p:spPr>
          <a:xfrm>
            <a:off x="8990701" y="1167500"/>
            <a:ext cx="3015333" cy="4523000"/>
          </a:xfrm>
          <a:prstGeom prst="rect">
            <a:avLst/>
          </a:prstGeom>
          <a:noFill/>
          <a:ln>
            <a:noFill/>
          </a:ln>
        </p:spPr>
      </p:pic>
      <p:sp>
        <p:nvSpPr>
          <p:cNvPr id="130" name="Google Shape;130;p9"/>
          <p:cNvSpPr txBox="1"/>
          <p:nvPr/>
        </p:nvSpPr>
        <p:spPr>
          <a:xfrm>
            <a:off x="475488" y="283464"/>
            <a:ext cx="9317700" cy="400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b="1" lang="en-US" sz="2000" u="sng">
                <a:solidFill>
                  <a:schemeClr val="dk1"/>
                </a:solidFill>
                <a:highlight>
                  <a:schemeClr val="lt1"/>
                </a:highlight>
              </a:rPr>
              <a:t>Role of Agentic AI in the Startup Blueprint Generator</a:t>
            </a:r>
            <a:endParaRPr b="1" i="0" sz="3200" u="none" cap="none" strike="noStrike">
              <a:solidFill>
                <a:srgbClr val="000000"/>
              </a:solidFill>
              <a:latin typeface="Arial"/>
              <a:ea typeface="Arial"/>
              <a:cs typeface="Arial"/>
              <a:sym typeface="Arial"/>
            </a:endParaRPr>
          </a:p>
        </p:txBody>
      </p:sp>
      <p:sp>
        <p:nvSpPr>
          <p:cNvPr id="131" name="Google Shape;131;p9"/>
          <p:cNvSpPr txBox="1"/>
          <p:nvPr/>
        </p:nvSpPr>
        <p:spPr>
          <a:xfrm>
            <a:off x="581050" y="683675"/>
            <a:ext cx="8056200" cy="6286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US" sz="1600">
                <a:solidFill>
                  <a:schemeClr val="dk1"/>
                </a:solidFill>
                <a:highlight>
                  <a:schemeClr val="lt1"/>
                </a:highlight>
              </a:rPr>
              <a:t>Agentic AI enables the Startup Blueprint Generator to function as an intelligent, autonomous business strategist rather than a simple chatbot. Using </a:t>
            </a:r>
            <a:r>
              <a:rPr b="1" lang="en-US" sz="1600">
                <a:solidFill>
                  <a:schemeClr val="dk1"/>
                </a:solidFill>
                <a:highlight>
                  <a:schemeClr val="lt1"/>
                </a:highlight>
              </a:rPr>
              <a:t>IBM watsonx.ai</a:t>
            </a:r>
            <a:r>
              <a:rPr lang="en-US" sz="1600">
                <a:solidFill>
                  <a:schemeClr val="dk1"/>
                </a:solidFill>
                <a:highlight>
                  <a:schemeClr val="lt1"/>
                </a:highlight>
              </a:rPr>
              <a:t> and </a:t>
            </a:r>
            <a:r>
              <a:rPr b="1" lang="en-US" sz="1600">
                <a:solidFill>
                  <a:schemeClr val="dk1"/>
                </a:solidFill>
                <a:highlight>
                  <a:schemeClr val="lt1"/>
                </a:highlight>
              </a:rPr>
              <a:t>IBM Granite models</a:t>
            </a:r>
            <a:r>
              <a:rPr lang="en-US" sz="1600">
                <a:solidFill>
                  <a:schemeClr val="dk1"/>
                </a:solidFill>
                <a:highlight>
                  <a:schemeClr val="lt1"/>
                </a:highlight>
              </a:rPr>
              <a:t>, it coordinates a complex, multi-step reasoning process to deliver a comprehensive 19-section business plan.</a:t>
            </a:r>
            <a:endParaRPr sz="16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en-US" sz="1600">
                <a:solidFill>
                  <a:schemeClr val="dk1"/>
                </a:solidFill>
                <a:highlight>
                  <a:schemeClr val="lt1"/>
                </a:highlight>
              </a:rPr>
              <a:t>The AI performs highly specialized roles—such as retrieving target market demographics, formulating competitive analyses, structuring financial revenue models, and identifying country-specific legal compliance. By breaking down a massive strategic task into specialized cognitive steps, this agentic approach ensures efficient execution and highly accurate results.</a:t>
            </a:r>
            <a:endParaRPr sz="16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en-US" sz="1600">
                <a:solidFill>
                  <a:schemeClr val="dk1"/>
                </a:solidFill>
                <a:highlight>
                  <a:schemeClr val="lt1"/>
                </a:highlight>
              </a:rPr>
              <a:t>Agentic AI also brings deep </a:t>
            </a:r>
            <a:r>
              <a:rPr b="1" lang="en-US" sz="1600">
                <a:solidFill>
                  <a:schemeClr val="dk1"/>
                </a:solidFill>
                <a:highlight>
                  <a:schemeClr val="lt1"/>
                </a:highlight>
              </a:rPr>
              <a:t>context awareness</a:t>
            </a:r>
            <a:r>
              <a:rPr lang="en-US" sz="1600">
                <a:solidFill>
                  <a:schemeClr val="dk1"/>
                </a:solidFill>
                <a:highlight>
                  <a:schemeClr val="lt1"/>
                </a:highlight>
              </a:rPr>
              <a:t>, deeply understanding specific user constraints like their initial budget, operating country, and target industry to generate hyper-tailored recommendations. It bypasses standard generic advice and applies real-world economic logic.</a:t>
            </a:r>
            <a:endParaRPr sz="16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en-US" sz="1600">
                <a:solidFill>
                  <a:schemeClr val="dk1"/>
                </a:solidFill>
                <a:highlight>
                  <a:schemeClr val="lt1"/>
                </a:highlight>
              </a:rPr>
              <a:t>Additionally, the system formats and structures the output dynamically, ensuring that the generated financial models align perfectly with the proposed go-to-market strategies for cohesive decision-making.</a:t>
            </a:r>
            <a:endParaRPr sz="16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en-US" sz="1600">
                <a:solidFill>
                  <a:schemeClr val="dk1"/>
                </a:solidFill>
                <a:highlight>
                  <a:schemeClr val="lt1"/>
                </a:highlight>
              </a:rPr>
              <a:t>Overall, Agentic AI makes the system proactive, analytical, and goal-driven, acting like a </a:t>
            </a:r>
            <a:r>
              <a:rPr b="1" lang="en-US" sz="1600">
                <a:solidFill>
                  <a:schemeClr val="dk1"/>
                </a:solidFill>
                <a:highlight>
                  <a:schemeClr val="lt1"/>
                </a:highlight>
              </a:rPr>
              <a:t>smart digital startup incubator</a:t>
            </a:r>
            <a:r>
              <a:rPr lang="en-US" sz="1600">
                <a:solidFill>
                  <a:schemeClr val="dk1"/>
                </a:solidFill>
                <a:highlight>
                  <a:schemeClr val="lt1"/>
                </a:highlight>
              </a:rPr>
              <a:t> that helps aspiring founders launch successfully.</a:t>
            </a:r>
            <a:endParaRPr sz="1600">
              <a:solidFill>
                <a:schemeClr val="dk1"/>
              </a:solidFill>
              <a:highlight>
                <a:schemeClr val="lt1"/>
              </a:highlight>
            </a:endParaRPr>
          </a:p>
          <a:p>
            <a:pPr indent="0" lvl="0" marL="0" marR="0" rtl="0" algn="l">
              <a:lnSpc>
                <a:spcPct val="100000"/>
              </a:lnSpc>
              <a:spcBef>
                <a:spcPts val="0"/>
              </a:spcBef>
              <a:spcAft>
                <a:spcPts val="0"/>
              </a:spcAft>
              <a:buClr>
                <a:srgbClr val="000000"/>
              </a:buClr>
              <a:buSzPts val="1400"/>
              <a:buFont typeface="Arial"/>
              <a:buNone/>
            </a:pPr>
            <a:r>
              <a:t/>
            </a:r>
            <a:endParaRPr b="1" sz="1600">
              <a:solidFill>
                <a:schemeClr val="dk1"/>
              </a:solidFill>
              <a:highlight>
                <a:schemeClr val="lt1"/>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40"/>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37" name="Google Shape;137;p40"/>
          <p:cNvSpPr txBox="1"/>
          <p:nvPr/>
        </p:nvSpPr>
        <p:spPr>
          <a:xfrm>
            <a:off x="777240" y="1207008"/>
            <a:ext cx="11301900" cy="5608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lang="en-US" sz="1700">
                <a:solidFill>
                  <a:schemeClr val="dk1"/>
                </a:solidFill>
                <a:highlight>
                  <a:schemeClr val="lt1"/>
                </a:highlight>
              </a:rPr>
              <a:t>The proposed Startup Blueprint Generator stands out by combining Agentic AI, dynamic financial modeling, and automated document formatting into a single intelligent incubation system.</a:t>
            </a:r>
            <a:endParaRPr sz="1700">
              <a:solidFill>
                <a:schemeClr val="dk1"/>
              </a:solidFill>
              <a:highlight>
                <a:schemeClr val="lt1"/>
              </a:highlight>
            </a:endParaRPr>
          </a:p>
          <a:p>
            <a:pPr indent="-336550" lvl="0" marL="457200" rtl="0" algn="l">
              <a:lnSpc>
                <a:spcPct val="115000"/>
              </a:lnSpc>
              <a:spcBef>
                <a:spcPts val="600"/>
              </a:spcBef>
              <a:spcAft>
                <a:spcPts val="0"/>
              </a:spcAft>
              <a:buClr>
                <a:schemeClr val="dk1"/>
              </a:buClr>
              <a:buSzPts val="1700"/>
              <a:buChar char="●"/>
            </a:pPr>
            <a:r>
              <a:rPr b="1" lang="en-US" sz="1700">
                <a:solidFill>
                  <a:schemeClr val="dk1"/>
                </a:solidFill>
                <a:highlight>
                  <a:schemeClr val="lt1"/>
                </a:highlight>
              </a:rPr>
              <a:t>Autonomous Strategic Reasoning</a:t>
            </a:r>
            <a:r>
              <a:rPr lang="en-US" sz="1700">
                <a:solidFill>
                  <a:schemeClr val="dk1"/>
                </a:solidFill>
                <a:highlight>
                  <a:schemeClr val="lt1"/>
                </a:highlight>
              </a:rPr>
              <a:t> – Instead of a simple Q&amp;A chatbot, the system autonomously reasons through 19 complex business dimensions (from SWOT to Go-To-Market) to deliver a cohesive, end-to-end business strategy.</a:t>
            </a:r>
            <a:endParaRPr sz="1700">
              <a:solidFill>
                <a:schemeClr val="dk1"/>
              </a:solidFill>
              <a:highlight>
                <a:schemeClr val="lt1"/>
              </a:highlight>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highlight>
                  <a:schemeClr val="lt1"/>
                </a:highlight>
              </a:rPr>
              <a:t>RAG-Based Accuracy</a:t>
            </a:r>
            <a:r>
              <a:rPr lang="en-US" sz="1700">
                <a:solidFill>
                  <a:schemeClr val="dk1"/>
                </a:solidFill>
                <a:highlight>
                  <a:schemeClr val="lt1"/>
                </a:highlight>
              </a:rPr>
              <a:t> – Integrates targeted retrieval of country-specific legal frameworks and government incentive schemes, significantly reducing AI hallucinations and ensuring compliant, realistic business plans.</a:t>
            </a:r>
            <a:endParaRPr sz="1700">
              <a:solidFill>
                <a:schemeClr val="dk1"/>
              </a:solidFill>
              <a:highlight>
                <a:schemeClr val="lt1"/>
              </a:highlight>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highlight>
                  <a:schemeClr val="lt1"/>
                </a:highlight>
              </a:rPr>
              <a:t>Hyper-Personalization</a:t>
            </a:r>
            <a:r>
              <a:rPr lang="en-US" sz="1700">
                <a:solidFill>
                  <a:schemeClr val="dk1"/>
                </a:solidFill>
                <a:highlight>
                  <a:schemeClr val="lt1"/>
                </a:highlight>
              </a:rPr>
              <a:t> – Tailors the entire business model, pricing strategy, and target audience based entirely on the founder's specific industry, operating country, and initial budget.</a:t>
            </a:r>
            <a:endParaRPr sz="1700">
              <a:solidFill>
                <a:schemeClr val="dk1"/>
              </a:solidFill>
              <a:highlight>
                <a:schemeClr val="lt1"/>
              </a:highlight>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highlight>
                  <a:schemeClr val="lt1"/>
                </a:highlight>
              </a:rPr>
              <a:t>Instant Professional Export</a:t>
            </a:r>
            <a:r>
              <a:rPr lang="en-US" sz="1700">
                <a:solidFill>
                  <a:schemeClr val="dk1"/>
                </a:solidFill>
                <a:highlight>
                  <a:schemeClr val="lt1"/>
                </a:highlight>
              </a:rPr>
              <a:t> – Features a built-in server-side PDF rendering engine, allowing founders to instantly download formatted, investor-ready documents with a single click.</a:t>
            </a:r>
            <a:endParaRPr sz="1700">
              <a:solidFill>
                <a:schemeClr val="dk1"/>
              </a:solidFill>
              <a:highlight>
                <a:schemeClr val="lt1"/>
              </a:highlight>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highlight>
                  <a:schemeClr val="lt1"/>
                </a:highlight>
              </a:rPr>
              <a:t>Dynamic Web Dashboard</a:t>
            </a:r>
            <a:r>
              <a:rPr lang="en-US" sz="1700">
                <a:solidFill>
                  <a:schemeClr val="dk1"/>
                </a:solidFill>
                <a:highlight>
                  <a:schemeClr val="lt1"/>
                </a:highlight>
              </a:rPr>
              <a:t> – Provides a seamless, interactive UI with animated generation tracking and tabbed reading, offering a vastly superior user experience compared to standard terminal-based AI tools.</a:t>
            </a:r>
            <a:endParaRPr sz="1700">
              <a:solidFill>
                <a:schemeClr val="dk1"/>
              </a:solidFill>
              <a:highlight>
                <a:schemeClr val="lt1"/>
              </a:highlight>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highlight>
                  <a:schemeClr val="lt1"/>
                </a:highlight>
              </a:rPr>
              <a:t>Financial Literacy Focus</a:t>
            </a:r>
            <a:r>
              <a:rPr lang="en-US" sz="1700">
                <a:solidFill>
                  <a:schemeClr val="dk1"/>
                </a:solidFill>
                <a:highlight>
                  <a:schemeClr val="lt1"/>
                </a:highlight>
              </a:rPr>
              <a:t> – Goes beyond basic startup advice to provide actual unit economics, estimated budget allocations, and scalable revenue models for first-time founders.</a:t>
            </a:r>
            <a:endParaRPr sz="1700">
              <a:solidFill>
                <a:schemeClr val="dk1"/>
              </a:solidFill>
              <a:highlight>
                <a:schemeClr val="lt1"/>
              </a:highlight>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highlight>
                  <a:schemeClr val="lt1"/>
                </a:highlight>
              </a:rPr>
              <a:t>Scalable &amp; Enterprise-Ready</a:t>
            </a:r>
            <a:r>
              <a:rPr lang="en-US" sz="1700">
                <a:solidFill>
                  <a:schemeClr val="dk1"/>
                </a:solidFill>
                <a:highlight>
                  <a:schemeClr val="lt1"/>
                </a:highlight>
              </a:rPr>
              <a:t> – Built on </a:t>
            </a:r>
            <a:r>
              <a:rPr b="1" lang="en-US" sz="1700">
                <a:solidFill>
                  <a:schemeClr val="dk1"/>
                </a:solidFill>
                <a:highlight>
                  <a:schemeClr val="lt1"/>
                </a:highlight>
              </a:rPr>
              <a:t>IBM watsonx.ai</a:t>
            </a:r>
            <a:r>
              <a:rPr lang="en-US" sz="1700">
                <a:solidFill>
                  <a:schemeClr val="dk1"/>
                </a:solidFill>
                <a:highlight>
                  <a:schemeClr val="lt1"/>
                </a:highlight>
              </a:rPr>
              <a:t> with </a:t>
            </a:r>
            <a:r>
              <a:rPr b="1" lang="en-US" sz="1700">
                <a:solidFill>
                  <a:schemeClr val="dk1"/>
                </a:solidFill>
                <a:highlight>
                  <a:schemeClr val="lt1"/>
                </a:highlight>
              </a:rPr>
              <a:t>IBM Granite models</a:t>
            </a:r>
            <a:r>
              <a:rPr lang="en-US" sz="1700">
                <a:solidFill>
                  <a:schemeClr val="dk1"/>
                </a:solidFill>
                <a:highlight>
                  <a:schemeClr val="lt1"/>
                </a:highlight>
              </a:rPr>
              <a:t>, ensuring enterprise-level reliability, data privacy, and governance.</a:t>
            </a:r>
            <a:endParaRPr sz="1700">
              <a:solidFill>
                <a:schemeClr val="dk1"/>
              </a:solidFill>
              <a:highlight>
                <a:schemeClr val="lt1"/>
              </a:highlight>
            </a:endParaRPr>
          </a:p>
          <a:p>
            <a:pPr indent="0" lvl="0" marL="0" marR="0" rtl="0" algn="l">
              <a:lnSpc>
                <a:spcPct val="100000"/>
              </a:lnSpc>
              <a:spcBef>
                <a:spcPts val="600"/>
              </a:spcBef>
              <a:spcAft>
                <a:spcPts val="0"/>
              </a:spcAft>
              <a:buClr>
                <a:srgbClr val="000000"/>
              </a:buClr>
              <a:buSzPts val="1400"/>
              <a:buFont typeface="Arial"/>
              <a:buNone/>
            </a:pPr>
            <a:r>
              <a:t/>
            </a:r>
            <a:endParaRPr sz="1600">
              <a:solidFill>
                <a:schemeClr val="dk1"/>
              </a:solidFill>
              <a:highlight>
                <a:schemeClr val="lt1"/>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41"/>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800" u="none" cap="none" strike="noStrike">
                <a:solidFill>
                  <a:srgbClr val="000000"/>
                </a:solidFill>
                <a:latin typeface="Arial"/>
                <a:ea typeface="Arial"/>
                <a:cs typeface="Arial"/>
                <a:sym typeface="Arial"/>
              </a:rPr>
              <a:t>GitHub Link</a:t>
            </a:r>
            <a:endParaRPr b="1" i="0" sz="2800" u="none" cap="none" strike="noStrike">
              <a:solidFill>
                <a:srgbClr val="000000"/>
              </a:solidFill>
              <a:latin typeface="Arial"/>
              <a:ea typeface="Arial"/>
              <a:cs typeface="Arial"/>
              <a:sym typeface="Arial"/>
            </a:endParaRPr>
          </a:p>
        </p:txBody>
      </p:sp>
      <p:sp>
        <p:nvSpPr>
          <p:cNvPr id="143" name="Google Shape;143;p41"/>
          <p:cNvSpPr/>
          <p:nvPr/>
        </p:nvSpPr>
        <p:spPr>
          <a:xfrm>
            <a:off x="101100" y="1153700"/>
            <a:ext cx="12012900" cy="427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2000">
                <a:solidFill>
                  <a:srgbClr val="616161"/>
                </a:solidFill>
                <a:highlight>
                  <a:schemeClr val="lt1"/>
                </a:highlight>
              </a:rPr>
              <a:t>Github URL:</a:t>
            </a:r>
            <a:r>
              <a:rPr lang="en-US" sz="2000">
                <a:solidFill>
                  <a:srgbClr val="616161"/>
                </a:solidFill>
                <a:highlight>
                  <a:schemeClr val="lt1"/>
                </a:highlight>
              </a:rPr>
              <a:t> </a:t>
            </a:r>
            <a:r>
              <a:rPr lang="en-US" sz="2000" u="sng">
                <a:solidFill>
                  <a:srgbClr val="006AB1"/>
                </a:solidFill>
                <a:highlight>
                  <a:schemeClr val="lt1"/>
                </a:highlight>
                <a:hlinkClick r:id="rId3">
                  <a:extLst>
                    <a:ext uri="{A12FA001-AC4F-418D-AE19-62706E023703}">
                      <ahyp:hlinkClr val="tx"/>
                    </a:ext>
                  </a:extLst>
                </a:hlinkClick>
              </a:rPr>
              <a:t>https://github.com/RajKiranAcharyya/AICTE_IBM_EDUNET_INTERNSHIP_Startup_Blueprint_Generator</a:t>
            </a:r>
            <a:endParaRPr sz="2000" u="sng">
              <a:solidFill>
                <a:srgbClr val="006AB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t/>
            </a:r>
            <a:endParaRPr sz="2000" u="sng">
              <a:solidFill>
                <a:srgbClr val="006AB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b="1" lang="en-US" sz="2000">
                <a:solidFill>
                  <a:srgbClr val="616161"/>
                </a:solidFill>
                <a:highlight>
                  <a:schemeClr val="lt1"/>
                </a:highlight>
              </a:rPr>
              <a:t>Live Web App URL:</a:t>
            </a:r>
            <a:r>
              <a:rPr lang="en-US" sz="2000">
                <a:solidFill>
                  <a:srgbClr val="616161"/>
                </a:solidFill>
                <a:highlight>
                  <a:schemeClr val="lt1"/>
                </a:highlight>
              </a:rPr>
              <a:t> </a:t>
            </a:r>
            <a:r>
              <a:rPr lang="en-US" sz="2000" u="sng">
                <a:solidFill>
                  <a:srgbClr val="006AB1"/>
                </a:solidFill>
                <a:highlight>
                  <a:schemeClr val="lt1"/>
                </a:highlight>
                <a:hlinkClick r:id="rId4">
                  <a:extLst>
                    <a:ext uri="{A12FA001-AC4F-418D-AE19-62706E023703}">
                      <ahyp:hlinkClr val="tx"/>
                    </a:ext>
                  </a:extLst>
                </a:hlinkClick>
              </a:rPr>
              <a:t>https://startupplan-generator-edunet-foundation.onrender.com</a:t>
            </a:r>
            <a:endParaRPr sz="2000"/>
          </a:p>
          <a:p>
            <a:pPr indent="0" lvl="0" marL="0" rtl="0" algn="l">
              <a:lnSpc>
                <a:spcPct val="115000"/>
              </a:lnSpc>
              <a:spcBef>
                <a:spcPts val="0"/>
              </a:spcBef>
              <a:spcAft>
                <a:spcPts val="0"/>
              </a:spcAft>
              <a:buClr>
                <a:schemeClr val="dk1"/>
              </a:buClr>
              <a:buSzPts val="1100"/>
              <a:buFont typeface="Arial"/>
              <a:buNone/>
            </a:pPr>
            <a:r>
              <a:t/>
            </a:r>
            <a:endParaRPr sz="2000"/>
          </a:p>
          <a:p>
            <a:pPr indent="0" lvl="0" marL="0" rtl="0" algn="l">
              <a:lnSpc>
                <a:spcPct val="115000"/>
              </a:lnSpc>
              <a:spcBef>
                <a:spcPts val="0"/>
              </a:spcBef>
              <a:spcAft>
                <a:spcPts val="0"/>
              </a:spcAft>
              <a:buClr>
                <a:schemeClr val="dk1"/>
              </a:buClr>
              <a:buSzPts val="1100"/>
              <a:buFont typeface="Arial"/>
              <a:buNone/>
            </a:pPr>
            <a:r>
              <a:rPr b="1" lang="en-US" sz="2000">
                <a:solidFill>
                  <a:srgbClr val="616161"/>
                </a:solidFill>
                <a:highlight>
                  <a:schemeClr val="lt1"/>
                </a:highlight>
              </a:rPr>
              <a:t>Demo Video</a:t>
            </a:r>
            <a:r>
              <a:rPr b="1" lang="en-US" sz="2000">
                <a:solidFill>
                  <a:srgbClr val="616161"/>
                </a:solidFill>
                <a:highlight>
                  <a:schemeClr val="lt1"/>
                </a:highlight>
              </a:rPr>
              <a:t>:</a:t>
            </a:r>
            <a:r>
              <a:rPr lang="en-US" sz="2000">
                <a:solidFill>
                  <a:srgbClr val="616161"/>
                </a:solidFill>
                <a:highlight>
                  <a:schemeClr val="lt1"/>
                </a:highlight>
              </a:rPr>
              <a:t> </a:t>
            </a:r>
            <a:r>
              <a:rPr lang="en-US" sz="2000" u="sng">
                <a:solidFill>
                  <a:srgbClr val="0969DA"/>
                </a:solidFill>
                <a:highlight>
                  <a:srgbClr val="FFFFFF"/>
                </a:highlight>
                <a:hlinkClick r:id="rId5">
                  <a:extLst>
                    <a:ext uri="{A12FA001-AC4F-418D-AE19-62706E023703}">
                      <ahyp:hlinkClr val="tx"/>
                    </a:ext>
                  </a:extLst>
                </a:hlinkClick>
              </a:rPr>
              <a:t>https://docs.google.com/videos/d/1r0zR4eqxMDFpNzph_9MeQwZTrGSSQXVg3asL4nH2F_A/play</a:t>
            </a:r>
            <a:endParaRPr sz="2000">
              <a:latin typeface="Times New Roman"/>
              <a:ea typeface="Times New Roman"/>
              <a:cs typeface="Times New Roman"/>
              <a:sym typeface="Times New Roman"/>
            </a:endParaRPr>
          </a:p>
        </p:txBody>
      </p:sp>
      <p:sp>
        <p:nvSpPr>
          <p:cNvPr id="144" name="Google Shape;144;p4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f4fa821565_0_4"/>
          <p:cNvSpPr/>
          <p:nvPr/>
        </p:nvSpPr>
        <p:spPr>
          <a:xfrm>
            <a:off x="1218724" y="420729"/>
            <a:ext cx="6444600" cy="704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lang="en-US" sz="2800"/>
              <a:t>Project Screenshots</a:t>
            </a:r>
            <a:endParaRPr b="1" i="0" sz="2800" u="none" cap="none" strike="noStrike">
              <a:solidFill>
                <a:srgbClr val="000000"/>
              </a:solidFill>
              <a:latin typeface="Arial"/>
              <a:ea typeface="Arial"/>
              <a:cs typeface="Arial"/>
              <a:sym typeface="Arial"/>
            </a:endParaRPr>
          </a:p>
        </p:txBody>
      </p:sp>
      <p:sp>
        <p:nvSpPr>
          <p:cNvPr id="150" name="Google Shape;150;g3f4fa821565_0_4"/>
          <p:cNvSpPr/>
          <p:nvPr/>
        </p:nvSpPr>
        <p:spPr>
          <a:xfrm>
            <a:off x="1218724" y="5430713"/>
            <a:ext cx="7468500" cy="383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pic>
        <p:nvPicPr>
          <p:cNvPr id="151" name="Google Shape;151;g3f4fa821565_0_4"/>
          <p:cNvPicPr preferRelativeResize="0"/>
          <p:nvPr/>
        </p:nvPicPr>
        <p:blipFill>
          <a:blip r:embed="rId3">
            <a:alphaModFix/>
          </a:blip>
          <a:stretch>
            <a:fillRect/>
          </a:stretch>
        </p:blipFill>
        <p:spPr>
          <a:xfrm>
            <a:off x="285900" y="1124825"/>
            <a:ext cx="11486873" cy="570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f4fa821565_0_11"/>
          <p:cNvSpPr/>
          <p:nvPr/>
        </p:nvSpPr>
        <p:spPr>
          <a:xfrm>
            <a:off x="1218724" y="420729"/>
            <a:ext cx="6444600" cy="704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lang="en-US" sz="2800"/>
              <a:t>Project Screenshots</a:t>
            </a:r>
            <a:endParaRPr b="1" i="0" sz="2800" u="none" cap="none" strike="noStrike">
              <a:solidFill>
                <a:srgbClr val="000000"/>
              </a:solidFill>
              <a:latin typeface="Arial"/>
              <a:ea typeface="Arial"/>
              <a:cs typeface="Arial"/>
              <a:sym typeface="Arial"/>
            </a:endParaRPr>
          </a:p>
        </p:txBody>
      </p:sp>
      <p:sp>
        <p:nvSpPr>
          <p:cNvPr id="157" name="Google Shape;157;g3f4fa821565_0_11"/>
          <p:cNvSpPr/>
          <p:nvPr/>
        </p:nvSpPr>
        <p:spPr>
          <a:xfrm>
            <a:off x="1218724" y="5430713"/>
            <a:ext cx="7468500" cy="383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pic>
        <p:nvPicPr>
          <p:cNvPr id="158" name="Google Shape;158;g3f4fa821565_0_11"/>
          <p:cNvPicPr preferRelativeResize="0"/>
          <p:nvPr/>
        </p:nvPicPr>
        <p:blipFill>
          <a:blip r:embed="rId3">
            <a:alphaModFix/>
          </a:blip>
          <a:stretch>
            <a:fillRect/>
          </a:stretch>
        </p:blipFill>
        <p:spPr>
          <a:xfrm>
            <a:off x="271700" y="1428450"/>
            <a:ext cx="11674401" cy="50858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f4fa821565_0_18"/>
          <p:cNvSpPr/>
          <p:nvPr/>
        </p:nvSpPr>
        <p:spPr>
          <a:xfrm>
            <a:off x="1218724" y="420729"/>
            <a:ext cx="6444600" cy="704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lang="en-US" sz="2800"/>
              <a:t>Project Screenshots</a:t>
            </a:r>
            <a:endParaRPr b="1" i="0" sz="2800" u="none" cap="none" strike="noStrike">
              <a:solidFill>
                <a:srgbClr val="000000"/>
              </a:solidFill>
              <a:latin typeface="Arial"/>
              <a:ea typeface="Arial"/>
              <a:cs typeface="Arial"/>
              <a:sym typeface="Arial"/>
            </a:endParaRPr>
          </a:p>
        </p:txBody>
      </p:sp>
      <p:sp>
        <p:nvSpPr>
          <p:cNvPr id="164" name="Google Shape;164;g3f4fa821565_0_18"/>
          <p:cNvSpPr/>
          <p:nvPr/>
        </p:nvSpPr>
        <p:spPr>
          <a:xfrm>
            <a:off x="1218724" y="5430713"/>
            <a:ext cx="7468500" cy="383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pic>
        <p:nvPicPr>
          <p:cNvPr id="165" name="Google Shape;165;g3f4fa821565_0_18"/>
          <p:cNvPicPr preferRelativeResize="0"/>
          <p:nvPr/>
        </p:nvPicPr>
        <p:blipFill>
          <a:blip r:embed="rId3">
            <a:alphaModFix/>
          </a:blip>
          <a:stretch>
            <a:fillRect/>
          </a:stretch>
        </p:blipFill>
        <p:spPr>
          <a:xfrm>
            <a:off x="-169025" y="1277225"/>
            <a:ext cx="12107773" cy="51802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f4fa821565_0_25"/>
          <p:cNvSpPr/>
          <p:nvPr/>
        </p:nvSpPr>
        <p:spPr>
          <a:xfrm>
            <a:off x="1218724" y="420729"/>
            <a:ext cx="6444600" cy="704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lang="en-US" sz="2800"/>
              <a:t>Project Screenshots</a:t>
            </a:r>
            <a:endParaRPr b="1" i="0" sz="2800" u="none" cap="none" strike="noStrike">
              <a:solidFill>
                <a:srgbClr val="000000"/>
              </a:solidFill>
              <a:latin typeface="Arial"/>
              <a:ea typeface="Arial"/>
              <a:cs typeface="Arial"/>
              <a:sym typeface="Arial"/>
            </a:endParaRPr>
          </a:p>
        </p:txBody>
      </p:sp>
      <p:sp>
        <p:nvSpPr>
          <p:cNvPr id="171" name="Google Shape;171;g3f4fa821565_0_25"/>
          <p:cNvSpPr/>
          <p:nvPr/>
        </p:nvSpPr>
        <p:spPr>
          <a:xfrm>
            <a:off x="1218724" y="5430713"/>
            <a:ext cx="7468500" cy="383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pic>
        <p:nvPicPr>
          <p:cNvPr id="172" name="Google Shape;172;g3f4fa821565_0_25"/>
          <p:cNvPicPr preferRelativeResize="0"/>
          <p:nvPr/>
        </p:nvPicPr>
        <p:blipFill>
          <a:blip r:embed="rId3">
            <a:alphaModFix/>
          </a:blip>
          <a:stretch>
            <a:fillRect/>
          </a:stretch>
        </p:blipFill>
        <p:spPr>
          <a:xfrm>
            <a:off x="77125" y="1206125"/>
            <a:ext cx="11984626" cy="4839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42"/>
          <p:cNvSpPr/>
          <p:nvPr/>
        </p:nvSpPr>
        <p:spPr>
          <a:xfrm>
            <a:off x="532851" y="420725"/>
            <a:ext cx="7130400" cy="7041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sng" cap="none" strike="noStrike">
                <a:solidFill>
                  <a:srgbClr val="000000"/>
                </a:solidFill>
                <a:latin typeface="Arial"/>
                <a:ea typeface="Arial"/>
                <a:cs typeface="Arial"/>
                <a:sym typeface="Arial"/>
              </a:rPr>
              <a:t>Future Scope </a:t>
            </a:r>
            <a:endParaRPr b="1" i="0" sz="2400" u="sng" cap="none" strike="noStrike">
              <a:solidFill>
                <a:srgbClr val="000000"/>
              </a:solidFill>
              <a:latin typeface="Arial"/>
              <a:ea typeface="Arial"/>
              <a:cs typeface="Arial"/>
              <a:sym typeface="Arial"/>
            </a:endParaRPr>
          </a:p>
        </p:txBody>
      </p:sp>
      <p:sp>
        <p:nvSpPr>
          <p:cNvPr id="178" name="Google Shape;178;p42"/>
          <p:cNvSpPr/>
          <p:nvPr/>
        </p:nvSpPr>
        <p:spPr>
          <a:xfrm>
            <a:off x="532850" y="1221725"/>
            <a:ext cx="10411200" cy="427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US" sz="2000">
                <a:solidFill>
                  <a:schemeClr val="dk1"/>
                </a:solidFill>
                <a:highlight>
                  <a:schemeClr val="lt1"/>
                </a:highlight>
              </a:rPr>
              <a:t>1. Integration with Real-Time Financial APIs &amp; Live Market Data –</a:t>
            </a:r>
            <a:r>
              <a:rPr lang="en-US" sz="2000">
                <a:solidFill>
                  <a:schemeClr val="dk1"/>
                </a:solidFill>
                <a:highlight>
                  <a:schemeClr val="lt1"/>
                </a:highlight>
              </a:rPr>
              <a:t> </a:t>
            </a:r>
            <a:r>
              <a:rPr lang="en-US" sz="1800">
                <a:solidFill>
                  <a:schemeClr val="dk1"/>
                </a:solidFill>
                <a:highlight>
                  <a:schemeClr val="lt1"/>
                </a:highlight>
              </a:rPr>
              <a:t>The system can be integrated with live financial APIs (like Bloomberg or Yahoo Finance) and government business registry databases to fetch real-time economic conditions, live competitor pricing, and active grant availability. This will enable the Startup Agent to provide highly dynamic, data-backed financial forecasts and live market trends rather than static estimates.</a:t>
            </a:r>
            <a:endParaRPr sz="18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t/>
            </a:r>
            <a:endParaRPr sz="20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b="1" lang="en-US" sz="2000">
                <a:solidFill>
                  <a:schemeClr val="dk1"/>
                </a:solidFill>
                <a:highlight>
                  <a:schemeClr val="lt1"/>
                </a:highlight>
              </a:rPr>
              <a:t>2. AI-Powered Pitch Deck Generator &amp; Multilingual Support –</a:t>
            </a:r>
            <a:r>
              <a:rPr lang="en-US" sz="2000">
                <a:solidFill>
                  <a:schemeClr val="dk1"/>
                </a:solidFill>
                <a:highlight>
                  <a:schemeClr val="lt1"/>
                </a:highlight>
              </a:rPr>
              <a:t> </a:t>
            </a:r>
            <a:r>
              <a:rPr lang="en-US" sz="1800">
                <a:solidFill>
                  <a:schemeClr val="dk1"/>
                </a:solidFill>
                <a:highlight>
                  <a:schemeClr val="lt1"/>
                </a:highlight>
              </a:rPr>
              <a:t>Enhancing the system to automatically generate full PowerPoint (.pptx) investor pitch decks based on the blueprint, along with support for multiple languages. This will allow founders to seamlessly pitch to international investors in their native languages, making the solution globally inclusive and vastly accelerating the fundraising process for non-English speakers.</a:t>
            </a:r>
            <a:endParaRPr sz="1800">
              <a:solidFill>
                <a:schemeClr val="dk1"/>
              </a:solidFill>
              <a:highlight>
                <a:schemeClr val="lt1"/>
              </a:highlight>
            </a:endParaRPr>
          </a:p>
          <a:p>
            <a:pPr indent="0" lvl="0" marL="0" marR="0" rtl="0" algn="l">
              <a:lnSpc>
                <a:spcPct val="162162"/>
              </a:lnSpc>
              <a:spcBef>
                <a:spcPts val="0"/>
              </a:spcBef>
              <a:spcAft>
                <a:spcPts val="0"/>
              </a:spcAft>
              <a:buClr>
                <a:srgbClr val="2B3541"/>
              </a:buClr>
              <a:buSzPts val="1850"/>
              <a:buFont typeface="Times New Roman"/>
              <a:buNone/>
            </a:pPr>
            <a:r>
              <a:t/>
            </a:r>
            <a:endParaRPr b="1" sz="2000">
              <a:solidFill>
                <a:schemeClr val="dk1"/>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43"/>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Certificates Earned: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43"/>
          <p:cNvSpPr txBox="1"/>
          <p:nvPr/>
        </p:nvSpPr>
        <p:spPr>
          <a:xfrm>
            <a:off x="552051" y="690050"/>
            <a:ext cx="11058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lang="en-US" sz="2800"/>
              <a:t>Getting Started with Artificial Intelligence</a:t>
            </a:r>
            <a:r>
              <a:rPr b="1" i="0" lang="en-US" sz="2800" u="none" cap="none" strike="noStrike">
                <a:solidFill>
                  <a:srgbClr val="000000"/>
                </a:solidFill>
                <a:latin typeface="Arial"/>
                <a:ea typeface="Arial"/>
                <a:cs typeface="Arial"/>
                <a:sym typeface="Arial"/>
              </a:rPr>
              <a:t> credly certificate </a:t>
            </a:r>
            <a:endParaRPr b="0" i="0" sz="1400" u="none" cap="none" strike="noStrike">
              <a:solidFill>
                <a:srgbClr val="000000"/>
              </a:solidFill>
              <a:latin typeface="Arial"/>
              <a:ea typeface="Arial"/>
              <a:cs typeface="Arial"/>
              <a:sym typeface="Arial"/>
            </a:endParaRPr>
          </a:p>
        </p:txBody>
      </p:sp>
      <p:pic>
        <p:nvPicPr>
          <p:cNvPr id="185" name="Google Shape;185;p43"/>
          <p:cNvPicPr preferRelativeResize="0"/>
          <p:nvPr/>
        </p:nvPicPr>
        <p:blipFill rotWithShape="1">
          <a:blip r:embed="rId3">
            <a:alphaModFix/>
          </a:blip>
          <a:srcRect b="1536" l="0" r="0" t="0"/>
          <a:stretch/>
        </p:blipFill>
        <p:spPr>
          <a:xfrm>
            <a:off x="1724525" y="1355650"/>
            <a:ext cx="7459576" cy="5258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44"/>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44"/>
          <p:cNvSpPr txBox="1"/>
          <p:nvPr/>
        </p:nvSpPr>
        <p:spPr>
          <a:xfrm>
            <a:off x="496843" y="800470"/>
            <a:ext cx="543768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IBM BOB Certificate</a:t>
            </a:r>
            <a:endParaRPr b="0" i="0" sz="1400" u="none" cap="none" strike="noStrike">
              <a:solidFill>
                <a:srgbClr val="000000"/>
              </a:solidFill>
              <a:latin typeface="Arial"/>
              <a:ea typeface="Arial"/>
              <a:cs typeface="Arial"/>
              <a:sym typeface="Arial"/>
            </a:endParaRPr>
          </a:p>
        </p:txBody>
      </p:sp>
      <p:pic>
        <p:nvPicPr>
          <p:cNvPr id="192" name="Google Shape;192;p44"/>
          <p:cNvPicPr preferRelativeResize="0"/>
          <p:nvPr/>
        </p:nvPicPr>
        <p:blipFill>
          <a:blip r:embed="rId3">
            <a:alphaModFix/>
          </a:blip>
          <a:stretch>
            <a:fillRect/>
          </a:stretch>
        </p:blipFill>
        <p:spPr>
          <a:xfrm>
            <a:off x="1752989" y="1352980"/>
            <a:ext cx="7677150" cy="46386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